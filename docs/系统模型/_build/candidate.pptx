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f6d6426bf478f" /><Relationship Type="http://schemas.openxmlformats.org/officeDocument/2006/relationships/extended-properties" Target="/docProps/app.xml" Id="Rdf38280ae6ac4833" /><Relationship Type="http://schemas.openxmlformats.org/officeDocument/2006/relationships/officeDocument" Target="/ppt/presentation.xml" Id="R72c74e7f195f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dca0631ef478b"/>
  </p:sldMasterIdLst>
  <p:notesMasterIdLst>
    <p:notesMasterId xmlns:r="http://schemas.openxmlformats.org/officeDocument/2006/relationships" r:id="R4e49244824d24ee1"/>
  </p:notesMasterIdLst>
  <p:sldIdLst>
    <p:sldId xmlns:r="http://schemas.openxmlformats.org/officeDocument/2006/relationships" id="256" r:id="R61f12394040b4f0b"/>
  </p:sldIdLst>
  <p:sldSz cx="13716000" cy="1047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31d97a177e425e" /><Relationship Type="http://schemas.openxmlformats.org/officeDocument/2006/relationships/slideMaster" Target="/ppt/slideMasters/slideMaster1.xml" Id="R602dca0631ef478b" /><Relationship Type="http://schemas.openxmlformats.org/officeDocument/2006/relationships/notesMaster" Target="/ppt/notesMasters/notesMaster1.xml" Id="R4e49244824d24ee1" /><Relationship Type="http://schemas.openxmlformats.org/officeDocument/2006/relationships/presProps" Target="/ppt/presProps.xml" Id="R1bedc25eec8743df" /><Relationship Type="http://schemas.openxmlformats.org/officeDocument/2006/relationships/tableStyles" Target="/ppt/tableStyles.xml" Id="R99194706cf88453b" /><Relationship Type="http://schemas.openxmlformats.org/officeDocument/2006/relationships/slide" Target="/ppt/slides/slide1.xml" Id="R61f12394040b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0d05da2a0f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8695450914a82" /><Relationship Type="http://schemas.openxmlformats.org/officeDocument/2006/relationships/notesMaster" Target="/ppt/notesMasters/notesMaster1.xml" Id="R5a101505229748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System: 20 mobile UDs, three computing UAVs, one directly accessible LEO satellite. Each task is indivisible and executes at a single destination.</a:t>
            </a:r>
          </a:p>
          <a:p xmlns:a="http://schemas.openxmlformats.org/drawingml/2006/main">
            <a:r>
              <a:t>Current v3 parameters: each UAV has its own 10 MHz bandwidth pool and 10 GHz CPU. The satellite has a shared 100 MHz pool and 50 GHz CPU. UAV altitude 50 m. LEO altitude 600 km. Per-UAV energy budget 12000 J. Priority is only the reciprocal deadline; no discrete priority classes are modeled.</a:t>
            </a:r>
          </a:p>
          <a:p xmlns:a="http://schemas.openxmlformats.org/drawingml/2006/main">
            <a:r>
              <a:t>Representative links show individual task assignments, not simultaneous splitting of a task. No UAV–satellite relay, inter-UAV offloading, inter-satellite links, physical cloud, or extra controller UAV is modeled. The decision maker is a logical ideal-control abstraction.</a:t>
            </a:r>
          </a:p>
          <a:p xmlns:a="http://schemas.openxmlformats.org/drawingml/2006/main">
            <a:r>
              <a:t>Model sources: docs/01_系统模型.md, configs/environment.json, manuscript_tvt/sections/system_model.tex. A pre-existing 20 MHz satellite value in project_context.md is stale; current v3 model and configuration use 100 MHz.</a:t>
            </a:r>
          </a:p>
          <a:p xmlns:a="http://schemas.openxmlformats.org/drawingml/2006/main">
            <a:r>
              <a:t>Reused visual sources: original user-supplied 系统模型图_论文完善版.pptx. The two supplied published-paper images informed layout only; their networks and graphical assets are not reproduced.</a:t>
            </a:r>
          </a:p>
          <a:p xmlns:a="http://schemas.openxmlformats.org/drawingml/2006/main">
            <a:r>
              <a:t>Satellite illustration generated with the built-in ImageGen tool. Original terrain, UAV, people, shelter and server artwork retains its original raster form; labels, task links, phones, curves and logical-controller annotation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510bb9bc242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5070befff47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945d5079e49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9c973474145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fa39b73a84b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8c0d934af4f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BE3120-45AD-4CE0-97EC-EBB4D1175C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958167"/>
            <a:ext cx="10972800" cy="15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A2594C-814D-43CD-BAA0-17CD98E8CD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5762625"/>
            <a:ext cx="96012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129EC5-D62C-480A-8267-4A9410965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4365625"/>
            <a:ext cx="10972800" cy="174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95A99A-592D-4408-ABE4-9EE5B662F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14917"/>
            <a:ext cx="12172950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BC570C-C009-41F2-911B-19ADD442E4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10417"/>
            <a:ext cx="12172950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CE4C2B-27C3-4AFA-A8DF-3597AA04D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14917"/>
            <a:ext cx="12172950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A90DED-BF7D-4104-BB9C-A19E4F3494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10417"/>
            <a:ext cx="5657850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A827CA-5C2C-4F1B-975C-3726020CEB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910417"/>
            <a:ext cx="5657850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B66F7A-1992-46EA-91CF-66791077D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814917"/>
            <a:ext cx="12172950" cy="1280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32C609-14FD-43FC-9077-688587589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910417"/>
            <a:ext cx="5657850" cy="6519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157cd51d74869" /><Relationship Type="http://schemas.openxmlformats.org/officeDocument/2006/relationships/slideLayout" Target="/ppt/slideLayouts/slideLayout1.xml" Id="Rf084ed8f390f4281" /><Relationship Type="http://schemas.openxmlformats.org/officeDocument/2006/relationships/slideLayout" Target="/ppt/slideLayouts/slideLayout2.xml" Id="R144cfe2ffbcc46d5" /><Relationship Type="http://schemas.openxmlformats.org/officeDocument/2006/relationships/slideLayout" Target="/ppt/slideLayouts/slideLayout3.xml" Id="Rca7298c8e58341c8" /><Relationship Type="http://schemas.openxmlformats.org/officeDocument/2006/relationships/slideLayout" Target="/ppt/slideLayouts/slideLayout4.xml" Id="R9d005c44bca74b73" /><Relationship Type="http://schemas.openxmlformats.org/officeDocument/2006/relationships/slideLayout" Target="/ppt/slideLayouts/slideLayout5.xml" Id="R7f399f77c06a4392" /><Relationship Type="http://schemas.openxmlformats.org/officeDocument/2006/relationships/slideLayout" Target="/ppt/slideLayouts/slideLayout6.xml" Id="R5d3218b5a04546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4ed8f390f4281"/>
    <p:sldLayoutId xmlns:r="http://schemas.openxmlformats.org/officeDocument/2006/relationships" id="2147483650" r:id="R144cfe2ffbcc46d5"/>
    <p:sldLayoutId xmlns:r="http://schemas.openxmlformats.org/officeDocument/2006/relationships" id="2147483651" r:id="Rca7298c8e58341c8"/>
    <p:sldLayoutId xmlns:r="http://schemas.openxmlformats.org/officeDocument/2006/relationships" id="2147483652" r:id="R9d005c44bca74b73"/>
    <p:sldLayoutId xmlns:r="http://schemas.openxmlformats.org/officeDocument/2006/relationships" id="2147483653" r:id="R7f399f77c06a4392"/>
    <p:sldLayoutId xmlns:r="http://schemas.openxmlformats.org/officeDocument/2006/relationships" id="2147483654" r:id="R5d3218b5a04546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cda866fcb4e07" /><Relationship Type="http://schemas.openxmlformats.org/officeDocument/2006/relationships/image" Target="/ppt/media/image.png" Id="Rd12256c378424cab" /><Relationship Type="http://schemas.openxmlformats.org/officeDocument/2006/relationships/image" Target="/ppt/media/image2.png" Id="Rc7ca2ae22e3948a9" /><Relationship Type="http://schemas.openxmlformats.org/officeDocument/2006/relationships/image" Target="/ppt/media/image3.png" Id="R64808a442d3b4e7a" /><Relationship Type="http://schemas.openxmlformats.org/officeDocument/2006/relationships/image" Target="/ppt/media/image4.png" Id="R7a0476f45b6f48f6" /><Relationship Type="http://schemas.openxmlformats.org/officeDocument/2006/relationships/image" Target="/ppt/media/image5.png" Id="Rba679650805b43f0" /><Relationship Type="http://schemas.openxmlformats.org/officeDocument/2006/relationships/image" Target="/ppt/media/image6.png" Id="R02c7bdae6d5442be" /><Relationship Type="http://schemas.openxmlformats.org/officeDocument/2006/relationships/image" Target="/ppt/media/image7.png" Id="R199b994c315f4b71" /><Relationship Type="http://schemas.openxmlformats.org/officeDocument/2006/relationships/image" Target="/ppt/media/image8.png" Id="R4a81a10c04ae4da2" /><Relationship Type="http://schemas.openxmlformats.org/officeDocument/2006/relationships/image" Target="/ppt/media/image9.png" Id="R02e07abed134439a" /><Relationship Type="http://schemas.openxmlformats.org/officeDocument/2006/relationships/image" Target="/ppt/media/image10.png" Id="R58282a1bc09740b9" /><Relationship Type="http://schemas.openxmlformats.org/officeDocument/2006/relationships/image" Target="/ppt/media/image11.png" Id="Rc7530c53c80f4c4c" /><Relationship Type="http://schemas.openxmlformats.org/officeDocument/2006/relationships/image" Target="/ppt/media/image12.png" Id="R10d2bfabab054887" /><Relationship Type="http://schemas.openxmlformats.org/officeDocument/2006/relationships/image" Target="/ppt/media/image13.png" Id="R3064bb563c094fac" /><Relationship Type="http://schemas.openxmlformats.org/officeDocument/2006/relationships/image" Target="/ppt/media/image14.png" Id="R7ae69cffe0dd4bf7" /><Relationship Type="http://schemas.openxmlformats.org/officeDocument/2006/relationships/image" Target="/ppt/media/image15.png" Id="R36c52d4a195c41fa" /><Relationship Type="http://schemas.openxmlformats.org/officeDocument/2006/relationships/image" Target="/ppt/media/image16.png" Id="Ra1d26c41e0134113" /><Relationship Type="http://schemas.openxmlformats.org/officeDocument/2006/relationships/image" Target="/ppt/media/image17.png" Id="R5e7dd16e65a1438b" /><Relationship Type="http://schemas.openxmlformats.org/officeDocument/2006/relationships/image" Target="/ppt/media/image18.png" Id="Raeb15ff9821541ea" /><Relationship Type="http://schemas.openxmlformats.org/officeDocument/2006/relationships/image" Target="/ppt/media/image19.png" Id="Rb30d1a68f0e64d7a" /><Relationship Type="http://schemas.openxmlformats.org/officeDocument/2006/relationships/image" Target="/ppt/media/image20.png" Id="R17b4d18c4c2845b2" /><Relationship Type="http://schemas.openxmlformats.org/officeDocument/2006/relationships/image" Target="/ppt/media/image21.png" Id="Re12a742f9e4b452a" /><Relationship Type="http://schemas.openxmlformats.org/officeDocument/2006/relationships/image" Target="/ppt/media/image22.png" Id="R90d9cf7afb8a4628" /><Relationship Type="http://schemas.openxmlformats.org/officeDocument/2006/relationships/image" Target="/ppt/media/image23.png" Id="Rae467e1616b943fa" /><Relationship Type="http://schemas.openxmlformats.org/officeDocument/2006/relationships/image" Target="/ppt/media/image24.png" Id="R79a7aa262f804c7b" /><Relationship Type="http://schemas.openxmlformats.org/officeDocument/2006/relationships/notesSlide" Target="/ppt/notesSlides/notesSlide1.xml" Id="R9d2f4f6bfc8347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B790062-A359-4B5D-B237-D31BA1CF2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256c378424cab"/>
          <a:srcRect xmlns:a="http://schemas.openxmlformats.org/drawingml/2006/main" l="2871" t="12221" r="2093" b="3401"/>
          <a:stretch xmlns:a="http://schemas.openxmlformats.org/drawingml/2006/main"/>
        </p:blipFill>
        <p:spPr>
          <a:xfrm xmlns:a="http://schemas.openxmlformats.org/drawingml/2006/main">
            <a:off x="419100" y="3514725"/>
            <a:ext cx="12877800" cy="64389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FA0BC-90ED-4E96-AB3B-433455429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2ae22e3948a9"/>
          <a:stretch xmlns:a="http://schemas.openxmlformats.org/drawingml/2006/main"/>
        </p:blipFill>
        <p:spPr>
          <a:xfrm xmlns:a="http://schemas.openxmlformats.org/drawingml/2006/main">
            <a:off x="3304953" y="6257925"/>
            <a:ext cx="1010093" cy="8572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D6543-22B4-4C1C-ADA9-E55B33AAF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08a442d3b4e7a"/>
          <a:stretch xmlns:a="http://schemas.openxmlformats.org/drawingml/2006/main"/>
        </p:blipFill>
        <p:spPr>
          <a:xfrm xmlns:a="http://schemas.openxmlformats.org/drawingml/2006/main">
            <a:off x="6575518" y="7391400"/>
            <a:ext cx="1231715" cy="8191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81ABE-9621-47C5-943D-B6E82FCBD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476f45b6f48f6"/>
          <a:stretch xmlns:a="http://schemas.openxmlformats.org/drawingml/2006/main"/>
        </p:blipFill>
        <p:spPr>
          <a:xfrm xmlns:a="http://schemas.openxmlformats.org/drawingml/2006/main">
            <a:off x="7724775" y="7773964"/>
            <a:ext cx="590550" cy="51122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4CD9A-E078-4613-A15E-86E8D1988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79650805b43f0"/>
          <a:stretch xmlns:a="http://schemas.openxmlformats.org/drawingml/2006/main"/>
        </p:blipFill>
        <p:spPr>
          <a:xfrm xmlns:a="http://schemas.openxmlformats.org/drawingml/2006/main">
            <a:off x="1695450" y="6667500"/>
            <a:ext cx="742950" cy="495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3D364-CF80-4E98-A227-F735DD734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7bdae6d5442be"/>
          <a:stretch xmlns:a="http://schemas.openxmlformats.org/drawingml/2006/main"/>
        </p:blipFill>
        <p:spPr>
          <a:xfrm xmlns:a="http://schemas.openxmlformats.org/drawingml/2006/main">
            <a:off x="5603081" y="8343900"/>
            <a:ext cx="1185863" cy="7905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084CA-F4BC-422E-A500-8692F0AF9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b994c315f4b71"/>
          <a:stretch xmlns:a="http://schemas.openxmlformats.org/drawingml/2006/main"/>
        </p:blipFill>
        <p:spPr>
          <a:xfrm xmlns:a="http://schemas.openxmlformats.org/drawingml/2006/main">
            <a:off x="10382250" y="5746192"/>
            <a:ext cx="819150" cy="499591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BD9C-4DB5-46DD-9B13-5FD04D83E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1a10c04ae4da2"/>
          <a:stretch xmlns:a="http://schemas.openxmlformats.org/drawingml/2006/main"/>
        </p:blipFill>
        <p:spPr>
          <a:xfrm xmlns:a="http://schemas.openxmlformats.org/drawingml/2006/main">
            <a:off x="2571750" y="5962650"/>
            <a:ext cx="400050" cy="60007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EC73C-2DDC-436A-A13C-33087CE33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7abed134439a"/>
          <a:stretch xmlns:a="http://schemas.openxmlformats.org/drawingml/2006/main"/>
        </p:blipFill>
        <p:spPr>
          <a:xfrm xmlns:a="http://schemas.openxmlformats.org/drawingml/2006/main">
            <a:off x="4058522" y="7210425"/>
            <a:ext cx="407831" cy="6096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E03DC-FB8A-4A5D-B198-90F977334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82a1bc09740b9"/>
          <a:stretch xmlns:a="http://schemas.openxmlformats.org/drawingml/2006/main"/>
        </p:blipFill>
        <p:spPr>
          <a:xfrm xmlns:a="http://schemas.openxmlformats.org/drawingml/2006/main">
            <a:off x="5410200" y="6362700"/>
            <a:ext cx="400050" cy="6000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906A6-93E6-4285-B8F6-2145E27723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30c53c80f4c4c"/>
          <a:stretch xmlns:a="http://schemas.openxmlformats.org/drawingml/2006/main"/>
        </p:blipFill>
        <p:spPr>
          <a:xfrm xmlns:a="http://schemas.openxmlformats.org/drawingml/2006/main">
            <a:off x="7601924" y="6924675"/>
            <a:ext cx="445728" cy="666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4F051-909B-4913-9A98-DC25F70EF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2bfabab054887"/>
          <a:stretch xmlns:a="http://schemas.openxmlformats.org/drawingml/2006/main"/>
        </p:blipFill>
        <p:spPr>
          <a:xfrm xmlns:a="http://schemas.openxmlformats.org/drawingml/2006/main">
            <a:off x="10572750" y="7259385"/>
            <a:ext cx="447675" cy="673604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F0DF9-9421-493B-90A6-C015C7BEB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4bb563c094fac"/>
          <a:stretch xmlns:a="http://schemas.openxmlformats.org/drawingml/2006/main"/>
        </p:blipFill>
        <p:spPr>
          <a:xfrm xmlns:a="http://schemas.openxmlformats.org/drawingml/2006/main">
            <a:off x="11258550" y="5821783"/>
            <a:ext cx="409575" cy="567483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2E71A-1609-422D-BE67-AFD041515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69cffe0dd4bf7"/>
          <a:stretch xmlns:a="http://schemas.openxmlformats.org/drawingml/2006/main"/>
        </p:blipFill>
        <p:spPr>
          <a:xfrm xmlns:a="http://schemas.openxmlformats.org/drawingml/2006/main">
            <a:off x="4629932" y="8362950"/>
            <a:ext cx="417536" cy="62865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B1632-51E7-4940-9FDC-1FB488FD3D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52d4a195c41fa"/>
          <a:stretch xmlns:a="http://schemas.openxmlformats.org/drawingml/2006/main"/>
        </p:blipFill>
        <p:spPr>
          <a:xfrm xmlns:a="http://schemas.openxmlformats.org/drawingml/2006/main">
            <a:off x="8753678" y="8505825"/>
            <a:ext cx="399645" cy="64770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A2115-0981-422C-BF85-B6BDCDBA8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26c41e0134113"/>
          <a:srcRect xmlns:a="http://schemas.openxmlformats.org/drawingml/2006/main" l="10490" t="9948" r="9441" b="15707"/>
          <a:stretch xmlns:a="http://schemas.openxmlformats.org/drawingml/2006/main"/>
        </p:blipFill>
        <p:spPr>
          <a:xfrm xmlns:a="http://schemas.openxmlformats.org/drawingml/2006/main">
            <a:off x="2200275" y="2743200"/>
            <a:ext cx="2276475" cy="1524000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74288-2480-4B9A-840E-C92A9FF7F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dd16e65a1438b"/>
          <a:srcRect xmlns:a="http://schemas.openxmlformats.org/drawingml/2006/main" l="10526" t="9816" r="9357" b="15951"/>
          <a:stretch xmlns:a="http://schemas.openxmlformats.org/drawingml/2006/main"/>
        </p:blipFill>
        <p:spPr>
          <a:xfrm xmlns:a="http://schemas.openxmlformats.org/drawingml/2006/main">
            <a:off x="5715000" y="3343275"/>
            <a:ext cx="2181225" cy="10287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2D40F-5DAE-43A6-B26B-AA1A71F002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15ff9821541ea"/>
          <a:stretch xmlns:a="http://schemas.openxmlformats.org/drawingml/2006/main"/>
        </p:blipFill>
        <p:spPr>
          <a:xfrm xmlns:a="http://schemas.openxmlformats.org/drawingml/2006/main">
            <a:off x="9353550" y="2734725"/>
            <a:ext cx="2228850" cy="106470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1194C-2BC4-4D99-8C54-831D852E99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d1a68f0e64d7a"/>
          <a:stretch xmlns:a="http://schemas.openxmlformats.org/drawingml/2006/main"/>
        </p:blipFill>
        <p:spPr>
          <a:xfrm xmlns:a="http://schemas.openxmlformats.org/drawingml/2006/main">
            <a:off x="4229100" y="3486492"/>
            <a:ext cx="381000" cy="45651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BDCD8-D089-4E65-9294-CDF1DEBAC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4d18c4c2845b2"/>
          <a:stretch xmlns:a="http://schemas.openxmlformats.org/drawingml/2006/main"/>
        </p:blipFill>
        <p:spPr>
          <a:xfrm xmlns:a="http://schemas.openxmlformats.org/drawingml/2006/main">
            <a:off x="7705725" y="3896067"/>
            <a:ext cx="381000" cy="456515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5FA7E-62F2-473B-A92C-76850CBA2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a742f9e4b452a"/>
          <a:stretch xmlns:a="http://schemas.openxmlformats.org/drawingml/2006/main"/>
        </p:blipFill>
        <p:spPr>
          <a:xfrm xmlns:a="http://schemas.openxmlformats.org/drawingml/2006/main">
            <a:off x="11334750" y="3334092"/>
            <a:ext cx="381000" cy="456515"/>
          </a:xfrm>
          <a:prstGeom xmlns:a="http://schemas.openxmlformats.org/drawingml/2006/main" prst="rect">
            <a:avLst/>
          </a:prstGeom>
        </p:spPr>
      </p:pic>
      <p:sp>
        <p:nvSpPr>
          <p:cNvPr id="22" name="Diagram element 1">
            <a:extLst xmlns:a="http://schemas.openxmlformats.org/drawingml/2006/main">
              <a:ext uri="{FF2B5EF4-FFF2-40B4-BE49-F238E27FC236}">
                <a16:creationId xmlns:a16="http://schemas.microsoft.com/office/drawing/2014/main" id="{3479E6FA-F958-442C-AB15-0BAD0281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1</a:t>
            </a:r>
          </a:p>
        </p:txBody>
      </p:sp>
      <p:sp>
        <p:nvSpPr>
          <p:cNvPr id="23" name="Diagram element 2">
            <a:extLst xmlns:a="http://schemas.openxmlformats.org/drawingml/2006/main">
              <a:ext uri="{FF2B5EF4-FFF2-40B4-BE49-F238E27FC236}">
                <a16:creationId xmlns:a16="http://schemas.microsoft.com/office/drawing/2014/main" id="{C62EFD4A-1D9D-40AE-A978-CC66FBA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2</a:t>
            </a:r>
          </a:p>
        </p:txBody>
      </p:sp>
      <p:sp>
        <p:nvSpPr>
          <p:cNvPr id="24" name="Diagram element 3">
            <a:extLst xmlns:a="http://schemas.openxmlformats.org/drawingml/2006/main">
              <a:ext uri="{FF2B5EF4-FFF2-40B4-BE49-F238E27FC236}">
                <a16:creationId xmlns:a16="http://schemas.microsoft.com/office/drawing/2014/main" id="{877D6C3D-B70B-46F9-8CF2-85DE2122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3</a:t>
            </a:r>
          </a:p>
        </p:txBody>
      </p:sp>
      <p:sp>
        <p:nvSpPr>
          <p:cNvPr id="28" name="UAV horizontal trajectory">
            <a:extLst xmlns:a="http://schemas.openxmlformats.org/drawingml/2006/main">
              <a:ext uri="{FF2B5EF4-FFF2-40B4-BE49-F238E27FC236}">
                <a16:creationId xmlns:a16="http://schemas.microsoft.com/office/drawing/2014/main" id="{A545E161-EDE9-4313-A299-C2933B96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486150"/>
            <a:ext cx="904875" cy="523875"/>
          </a:xfrm>
          <a:custGeom xmlns:a="http://schemas.openxmlformats.org/drawingml/2006/main"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5E6671"/>
            </a:solidFill>
            <a:prstDash val="solid"/>
          </a:ln>
        </p:spPr>
      </p:sp>
      <p:sp>
        <p:nvSpPr>
          <p:cNvPr id="29" name="Diagram element 7">
            <a:extLst xmlns:a="http://schemas.openxmlformats.org/drawingml/2006/main">
              <a:ext uri="{FF2B5EF4-FFF2-40B4-BE49-F238E27FC236}">
                <a16:creationId xmlns:a16="http://schemas.microsoft.com/office/drawing/2014/main" id="{694C053C-2DE0-4A1D-8BC1-DC7399D8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38400" y="3695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E66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UAV horizontal trajectory">
            <a:extLst xmlns:a="http://schemas.openxmlformats.org/drawingml/2006/main">
              <a:ext uri="{FF2B5EF4-FFF2-40B4-BE49-F238E27FC236}">
                <a16:creationId xmlns:a16="http://schemas.microsoft.com/office/drawing/2014/main" id="{101FC42E-BFD8-4E17-A876-57DE814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24300"/>
            <a:ext cx="904875" cy="523875"/>
          </a:xfrm>
          <a:custGeom xmlns:a="http://schemas.openxmlformats.org/drawingml/2006/main">
            <a:pathLst>
              <a:path w="904875" h="523875">
                <a:moveTo>
                  <a:pt x="19050" y="428625"/>
                </a:moveTo>
                <a:cubicBezTo>
                  <a:pt x="247650" y="419100"/>
                  <a:pt x="228600" y="95250"/>
                  <a:pt x="504825" y="114300"/>
                </a:cubicBezTo>
                <a:cubicBezTo>
                  <a:pt x="714375" y="142875"/>
                  <a:pt x="723900" y="276225"/>
                  <a:pt x="866775" y="2667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5E6671"/>
            </a:solidFill>
            <a:prstDash val="solid"/>
          </a:ln>
        </p:spPr>
      </p:sp>
      <p:sp>
        <p:nvSpPr>
          <p:cNvPr id="31" name="Diagram element 8">
            <a:extLst xmlns:a="http://schemas.openxmlformats.org/drawingml/2006/main">
              <a:ext uri="{FF2B5EF4-FFF2-40B4-BE49-F238E27FC236}">
                <a16:creationId xmlns:a16="http://schemas.microsoft.com/office/drawing/2014/main" id="{85D991C9-A453-4F5C-A287-9918E6B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76925" y="4133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E66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UAV horizontal trajectory">
            <a:extLst xmlns:a="http://schemas.openxmlformats.org/drawingml/2006/main">
              <a:ext uri="{FF2B5EF4-FFF2-40B4-BE49-F238E27FC236}">
                <a16:creationId xmlns:a16="http://schemas.microsoft.com/office/drawing/2014/main" id="{5B3236EC-BB31-40EB-A4A7-6DC8E17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3943350"/>
            <a:ext cx="904875" cy="523875"/>
          </a:xfrm>
          <a:custGeom xmlns:a="http://schemas.openxmlformats.org/drawingml/2006/main">
            <a:pathLst>
              <a:path w="904875" h="523875">
                <a:moveTo>
                  <a:pt x="885825" y="47625"/>
                </a:moveTo>
                <a:cubicBezTo>
                  <a:pt x="628650" y="57150"/>
                  <a:pt x="647700" y="400050"/>
                  <a:pt x="381000" y="390525"/>
                </a:cubicBezTo>
                <a:cubicBezTo>
                  <a:pt x="180975" y="381000"/>
                  <a:pt x="180975" y="257175"/>
                  <a:pt x="38100" y="257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5E6671"/>
            </a:solidFill>
            <a:prstDash val="solid"/>
          </a:ln>
        </p:spPr>
      </p:sp>
      <p:sp>
        <p:nvSpPr>
          <p:cNvPr id="33" name="Diagram element 9">
            <a:extLst xmlns:a="http://schemas.openxmlformats.org/drawingml/2006/main">
              <a:ext uri="{FF2B5EF4-FFF2-40B4-BE49-F238E27FC236}">
                <a16:creationId xmlns:a16="http://schemas.microsoft.com/office/drawing/2014/main" id="{804D41BE-2CA9-4A2A-B334-A65D97F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29975" y="4143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E667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038E9-5E73-4C68-9856-319C4C4D8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9cf7afb8a4628"/>
          <a:stretch xmlns:a="http://schemas.openxmlformats.org/drawingml/2006/main"/>
        </p:blipFill>
        <p:spPr>
          <a:xfrm xmlns:a="http://schemas.openxmlformats.org/drawingml/2006/main">
            <a:off x="9732252" y="381000"/>
            <a:ext cx="3176420" cy="1381125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F5643-2EBC-428A-9097-C8E90DCF16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67e1616b943fa"/>
          <a:stretch xmlns:a="http://schemas.openxmlformats.org/drawingml/2006/main"/>
        </p:blipFill>
        <p:spPr>
          <a:xfrm xmlns:a="http://schemas.openxmlformats.org/drawingml/2006/main">
            <a:off x="12620625" y="1553861"/>
            <a:ext cx="371475" cy="445102"/>
          </a:xfrm>
          <a:prstGeom xmlns:a="http://schemas.openxmlformats.org/drawingml/2006/main" prst="rect">
            <a:avLst/>
          </a:prstGeom>
        </p:spPr>
      </p:pic>
      <p:sp>
        <p:nvSpPr>
          <p:cNvPr id="36" name="Diagram element 10">
            <a:extLst xmlns:a="http://schemas.openxmlformats.org/drawingml/2006/main">
              <a:ext uri="{FF2B5EF4-FFF2-40B4-BE49-F238E27FC236}">
                <a16:creationId xmlns:a16="http://schemas.microsoft.com/office/drawing/2014/main" id="{7FEE7366-D79A-4403-9CF4-CAD47D66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1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LEO satellite with edge computing</a:t>
            </a:r>
          </a:p>
        </p:txBody>
      </p:sp>
      <p:sp>
        <p:nvSpPr>
          <p:cNvPr id="37" name="Diagram element 11">
            <a:extLst xmlns:a="http://schemas.openxmlformats.org/drawingml/2006/main">
              <a:ext uri="{FF2B5EF4-FFF2-40B4-BE49-F238E27FC236}">
                <a16:creationId xmlns:a16="http://schemas.microsoft.com/office/drawing/2014/main" id="{5F698C67-A445-46B9-8775-A484CA2F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600 km altitude</a:t>
            </a:r>
          </a:p>
        </p:txBody>
      </p:sp>
      <p:sp>
        <p:nvSpPr>
          <p:cNvPr id="38" name="Diagram element 12">
            <a:extLst xmlns:a="http://schemas.openxmlformats.org/drawingml/2006/main">
              <a:ext uri="{FF2B5EF4-FFF2-40B4-BE49-F238E27FC236}">
                <a16:creationId xmlns:a16="http://schemas.microsoft.com/office/drawing/2014/main" id="{2AEB37B1-8F02-47E9-A607-8AA31463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95500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100 MHz shared, 50 GHz</a:t>
            </a:r>
          </a:p>
        </p:txBody>
      </p:sp>
      <p:sp>
        <p:nvSpPr>
          <p:cNvPr id="39" name="Diagram element 13">
            <a:extLst xmlns:a="http://schemas.openxmlformats.org/drawingml/2006/main">
              <a:ext uri="{FF2B5EF4-FFF2-40B4-BE49-F238E27FC236}">
                <a16:creationId xmlns:a16="http://schemas.microsoft.com/office/drawing/2014/main" id="{640C2EBA-E60D-4854-B5F5-9501FC96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6319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Diagram element 14">
            <a:extLst xmlns:a="http://schemas.openxmlformats.org/drawingml/2006/main">
              <a:ext uri="{FF2B5EF4-FFF2-40B4-BE49-F238E27FC236}">
                <a16:creationId xmlns:a16="http://schemas.microsoft.com/office/drawing/2014/main" id="{791197C3-1528-45B4-B9FC-1A08E69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38338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UD 1 offloads directly to UAV 1">
            <a:extLst xmlns:a="http://schemas.openxmlformats.org/drawingml/2006/main">
              <a:ext uri="{FF2B5EF4-FFF2-40B4-BE49-F238E27FC236}">
                <a16:creationId xmlns:a16="http://schemas.microsoft.com/office/drawing/2014/main" id="{35B79296-6906-484C-8D28-8EF67F11C87A}"/>
              </a:ext>
            </a:extLst>
          </p:cNvPr>
          <p:cNvCxnSpPr>
            <a:stCxn xmlns:a="http://schemas.openxmlformats.org/drawingml/2006/main" id="39" idx="0"/>
            <a:endCxn xmlns:a="http://schemas.openxmlformats.org/drawingml/2006/main" id="40" idx="2"/>
          </p:cNvCxnSpPr>
          <p:nvPr/>
        </p:nvCxnSpPr>
        <p:spPr>
          <a:xfrm xmlns:a="http://schemas.openxmlformats.org/drawingml/2006/main" flipV="1">
            <a:off x="2952751" y="3843338"/>
            <a:ext cx="161925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2" name="Diagram element 15">
            <a:extLst xmlns:a="http://schemas.openxmlformats.org/drawingml/2006/main">
              <a:ext uri="{FF2B5EF4-FFF2-40B4-BE49-F238E27FC236}">
                <a16:creationId xmlns:a16="http://schemas.microsoft.com/office/drawing/2014/main" id="{959AFB88-B849-4C74-A9D7-5F430EF1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74723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Diagram element 16">
            <a:extLst xmlns:a="http://schemas.openxmlformats.org/drawingml/2006/main">
              <a:ext uri="{FF2B5EF4-FFF2-40B4-BE49-F238E27FC236}">
                <a16:creationId xmlns:a16="http://schemas.microsoft.com/office/drawing/2014/main" id="{70BDAFF4-4885-4EE9-A663-65500CC7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8814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UD 2 offloads directly to UAV 1">
            <a:extLst xmlns:a="http://schemas.openxmlformats.org/drawingml/2006/main">
              <a:ext uri="{FF2B5EF4-FFF2-40B4-BE49-F238E27FC236}">
                <a16:creationId xmlns:a16="http://schemas.microsoft.com/office/drawing/2014/main" id="{EDD22170-D5B3-4303-A0D5-452AAF992434}"/>
              </a:ext>
            </a:extLst>
          </p:cNvPr>
          <p:cNvCxnSpPr>
            <a:stCxn xmlns:a="http://schemas.openxmlformats.org/drawingml/2006/main" id="42" idx="0"/>
            <a:endCxn xmlns:a="http://schemas.openxmlformats.org/drawingml/2006/main" id="43" idx="2"/>
          </p:cNvCxnSpPr>
          <p:nvPr/>
        </p:nvCxnSpPr>
        <p:spPr>
          <a:xfrm xmlns:a="http://schemas.openxmlformats.org/drawingml/2006/main" flipH="1" flipV="1">
            <a:off x="3543301" y="3890963"/>
            <a:ext cx="828675" cy="3581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5" name="Diagram element 17">
            <a:extLst xmlns:a="http://schemas.openxmlformats.org/drawingml/2006/main">
              <a:ext uri="{FF2B5EF4-FFF2-40B4-BE49-F238E27FC236}">
                <a16:creationId xmlns:a16="http://schemas.microsoft.com/office/drawing/2014/main" id="{8885D330-84C6-446D-9D39-A93B3AAA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64912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Diagram element 18">
            <a:extLst xmlns:a="http://schemas.openxmlformats.org/drawingml/2006/main">
              <a:ext uri="{FF2B5EF4-FFF2-40B4-BE49-F238E27FC236}">
                <a16:creationId xmlns:a16="http://schemas.microsoft.com/office/drawing/2014/main" id="{5A600AAC-DF0D-4237-84C1-05A7B4AE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4243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UD 3 offloads directly to UAV 2">
            <a:extLst xmlns:a="http://schemas.openxmlformats.org/drawingml/2006/main">
              <a:ext uri="{FF2B5EF4-FFF2-40B4-BE49-F238E27FC236}">
                <a16:creationId xmlns:a16="http://schemas.microsoft.com/office/drawing/2014/main" id="{33A93F0E-0330-40C4-8C0E-0285741392AF}"/>
              </a:ext>
            </a:extLst>
          </p:cNvPr>
          <p:cNvCxnSpPr>
            <a:stCxn xmlns:a="http://schemas.openxmlformats.org/drawingml/2006/main" id="45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5800726" y="4252913"/>
            <a:ext cx="809625" cy="2238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48" name="Diagram element 19">
            <a:extLst xmlns:a="http://schemas.openxmlformats.org/drawingml/2006/main">
              <a:ext uri="{FF2B5EF4-FFF2-40B4-BE49-F238E27FC236}">
                <a16:creationId xmlns:a16="http://schemas.microsoft.com/office/drawing/2014/main" id="{D7753356-E011-4888-B92D-AC910703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72437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Diagram element 20">
            <a:extLst xmlns:a="http://schemas.openxmlformats.org/drawingml/2006/main">
              <a:ext uri="{FF2B5EF4-FFF2-40B4-BE49-F238E27FC236}">
                <a16:creationId xmlns:a16="http://schemas.microsoft.com/office/drawing/2014/main" id="{71B64A35-2A03-47E8-A675-8D49DBFF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4233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UD 4 offloads directly to UAV 2">
            <a:extLst xmlns:a="http://schemas.openxmlformats.org/drawingml/2006/main">
              <a:ext uri="{FF2B5EF4-FFF2-40B4-BE49-F238E27FC236}">
                <a16:creationId xmlns:a16="http://schemas.microsoft.com/office/drawing/2014/main" id="{1EA5B41A-2F51-4EEF-ADB4-BC39853C445C}"/>
              </a:ext>
            </a:extLst>
          </p:cNvPr>
          <p:cNvCxnSpPr>
            <a:stCxn xmlns:a="http://schemas.openxmlformats.org/drawingml/2006/main" id="48" idx="0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H="1" flipV="1">
            <a:off x="7191376" y="4243388"/>
            <a:ext cx="809625" cy="3000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1" name="Diagram element 21">
            <a:extLst xmlns:a="http://schemas.openxmlformats.org/drawingml/2006/main">
              <a:ext uri="{FF2B5EF4-FFF2-40B4-BE49-F238E27FC236}">
                <a16:creationId xmlns:a16="http://schemas.microsoft.com/office/drawing/2014/main" id="{62BF3E05-0B7B-4B9C-8A00-68035FD2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463" y="7453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Diagram element 22">
            <a:extLst xmlns:a="http://schemas.openxmlformats.org/drawingml/2006/main">
              <a:ext uri="{FF2B5EF4-FFF2-40B4-BE49-F238E27FC236}">
                <a16:creationId xmlns:a16="http://schemas.microsoft.com/office/drawing/2014/main" id="{827B0027-419A-4B39-878E-DE9C999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888" y="3700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UD 5 offloads directly to UAV 3">
            <a:extLst xmlns:a="http://schemas.openxmlformats.org/drawingml/2006/main">
              <a:ext uri="{FF2B5EF4-FFF2-40B4-BE49-F238E27FC236}">
                <a16:creationId xmlns:a16="http://schemas.microsoft.com/office/drawing/2014/main" id="{09E86511-FB3D-447E-AA3A-E84FAD912419}"/>
              </a:ext>
            </a:extLst>
          </p:cNvPr>
          <p:cNvCxnSpPr>
            <a:stCxn xmlns:a="http://schemas.openxmlformats.org/drawingml/2006/main" id="51" idx="0"/>
            <a:endCxn xmlns:a="http://schemas.openxmlformats.org/drawingml/2006/main" id="52" idx="2"/>
          </p:cNvCxnSpPr>
          <p:nvPr/>
        </p:nvCxnSpPr>
        <p:spPr>
          <a:xfrm xmlns:a="http://schemas.openxmlformats.org/drawingml/2006/main" flipH="1" flipV="1">
            <a:off x="10534651" y="3709988"/>
            <a:ext cx="409575" cy="3743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54" name="Diagram element 23">
            <a:extLst xmlns:a="http://schemas.openxmlformats.org/drawingml/2006/main">
              <a:ext uri="{FF2B5EF4-FFF2-40B4-BE49-F238E27FC236}">
                <a16:creationId xmlns:a16="http://schemas.microsoft.com/office/drawing/2014/main" id="{4E31446B-588A-43B6-9248-7C6BC9A8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688" y="6157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Diagram element 24">
            <a:extLst xmlns:a="http://schemas.openxmlformats.org/drawingml/2006/main">
              <a:ext uri="{FF2B5EF4-FFF2-40B4-BE49-F238E27FC236}">
                <a16:creationId xmlns:a16="http://schemas.microsoft.com/office/drawing/2014/main" id="{9261A167-DC75-4EDC-949E-52EAE928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738" y="54244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Direct UD 6 to LEO path, segment 1">
            <a:extLst xmlns:a="http://schemas.openxmlformats.org/drawingml/2006/main">
              <a:ext uri="{FF2B5EF4-FFF2-40B4-BE49-F238E27FC236}">
                <a16:creationId xmlns:a16="http://schemas.microsoft.com/office/drawing/2014/main" id="{2165D4B5-7300-4B00-AA67-15CA5ADB71A3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11987213" y="5429251"/>
            <a:ext cx="115252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850A2"/>
            </a:solidFill>
            <a:prstDash val="dashDot"/>
          </a:ln>
        </p:spPr>
      </p:cxnSp>
      <p:sp>
        <p:nvSpPr>
          <p:cNvPr id="57" name="Diagram element 25">
            <a:extLst xmlns:a="http://schemas.openxmlformats.org/drawingml/2006/main">
              <a:ext uri="{FF2B5EF4-FFF2-40B4-BE49-F238E27FC236}">
                <a16:creationId xmlns:a16="http://schemas.microsoft.com/office/drawing/2014/main" id="{5CEC2A0A-8435-42C2-81E3-D413C88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738" y="54244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Diagram element 26">
            <a:extLst xmlns:a="http://schemas.openxmlformats.org/drawingml/2006/main">
              <a:ext uri="{FF2B5EF4-FFF2-40B4-BE49-F238E27FC236}">
                <a16:creationId xmlns:a16="http://schemas.microsoft.com/office/drawing/2014/main" id="{4DA27BE9-DF92-4D08-892F-A10454C9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738" y="1957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Direct UD 6 to LEO path, segment 2">
            <a:extLst xmlns:a="http://schemas.openxmlformats.org/drawingml/2006/main">
              <a:ext uri="{FF2B5EF4-FFF2-40B4-BE49-F238E27FC236}">
                <a16:creationId xmlns:a16="http://schemas.microsoft.com/office/drawing/2014/main" id="{D1FD5637-63D8-4BDD-AEE6-6B7F502BECB3}"/>
              </a:ext>
            </a:extLst>
          </p:cNvPr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3144501" y="1966913"/>
            <a:ext cx="0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850A2"/>
            </a:solidFill>
            <a:prstDash val="dashDot"/>
          </a:ln>
        </p:spPr>
      </p:cxnSp>
      <p:sp>
        <p:nvSpPr>
          <p:cNvPr id="60" name="Diagram element 27">
            <a:extLst xmlns:a="http://schemas.openxmlformats.org/drawingml/2006/main">
              <a:ext uri="{FF2B5EF4-FFF2-40B4-BE49-F238E27FC236}">
                <a16:creationId xmlns:a16="http://schemas.microsoft.com/office/drawing/2014/main" id="{1231E232-4411-421C-8275-C9FD62CD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9738" y="1957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Diagram element 28">
            <a:extLst xmlns:a="http://schemas.openxmlformats.org/drawingml/2006/main">
              <a:ext uri="{FF2B5EF4-FFF2-40B4-BE49-F238E27FC236}">
                <a16:creationId xmlns:a16="http://schemas.microsoft.com/office/drawing/2014/main" id="{F320243A-F978-4FFA-AA6C-1119642E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7288" y="1557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UD 6 offloads directly to LEO without UAV forwarding">
            <a:extLst xmlns:a="http://schemas.openxmlformats.org/drawingml/2006/main">
              <a:ext uri="{FF2B5EF4-FFF2-40B4-BE49-F238E27FC236}">
                <a16:creationId xmlns:a16="http://schemas.microsoft.com/office/drawing/2014/main" id="{C4BEF401-4137-4806-B4F3-570DF108559E}"/>
              </a:ext>
            </a:extLst>
          </p:cNvPr>
          <p:cNvCxnSpPr>
            <a:stCxn xmlns:a="http://schemas.openxmlformats.org/drawingml/2006/main" id="60" idx="1"/>
            <a:endCxn xmlns:a="http://schemas.openxmlformats.org/drawingml/2006/main" id="61" idx="3"/>
          </p:cNvCxnSpPr>
          <p:nvPr/>
        </p:nvCxnSpPr>
        <p:spPr>
          <a:xfrm xmlns:a="http://schemas.openxmlformats.org/drawingml/2006/main" flipH="1" flipV="1">
            <a:off x="12596813" y="1562101"/>
            <a:ext cx="5429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30480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65" name="Mobile UD 1">
            <a:extLst xmlns:a="http://schemas.openxmlformats.org/drawingml/2006/main">
              <a:ext uri="{FF2B5EF4-FFF2-40B4-BE49-F238E27FC236}">
                <a16:creationId xmlns:a16="http://schemas.microsoft.com/office/drawing/2014/main" id="{158EE13D-2BDE-4142-A2D5-4401E12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62675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6" name="Diagram element 31">
            <a:extLst xmlns:a="http://schemas.openxmlformats.org/drawingml/2006/main">
              <a:ext uri="{FF2B5EF4-FFF2-40B4-BE49-F238E27FC236}">
                <a16:creationId xmlns:a16="http://schemas.microsoft.com/office/drawing/2014/main" id="{F8412639-6066-4DF7-873A-B18E466C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6205538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iagram element 32">
            <a:extLst xmlns:a="http://schemas.openxmlformats.org/drawingml/2006/main">
              <a:ext uri="{FF2B5EF4-FFF2-40B4-BE49-F238E27FC236}">
                <a16:creationId xmlns:a16="http://schemas.microsoft.com/office/drawing/2014/main" id="{509B5237-7DA1-4F47-80A2-FE38F272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64312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Mobile UD 2">
            <a:extLst xmlns:a="http://schemas.openxmlformats.org/drawingml/2006/main">
              <a:ext uri="{FF2B5EF4-FFF2-40B4-BE49-F238E27FC236}">
                <a16:creationId xmlns:a16="http://schemas.microsoft.com/office/drawing/2014/main" id="{6E4E0F03-4C35-45F6-8C54-603165CC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7315200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0" name="Diagram element 34">
            <a:extLst xmlns:a="http://schemas.openxmlformats.org/drawingml/2006/main">
              <a:ext uri="{FF2B5EF4-FFF2-40B4-BE49-F238E27FC236}">
                <a16:creationId xmlns:a16="http://schemas.microsoft.com/office/drawing/2014/main" id="{2000285C-C145-4EEC-A61C-5F57234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7358063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iagram element 35">
            <a:extLst xmlns:a="http://schemas.openxmlformats.org/drawingml/2006/main">
              <a:ext uri="{FF2B5EF4-FFF2-40B4-BE49-F238E27FC236}">
                <a16:creationId xmlns:a16="http://schemas.microsoft.com/office/drawing/2014/main" id="{744642F2-C1E7-493D-9703-62C39651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688" y="75838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Mobile UD 3">
            <a:extLst xmlns:a="http://schemas.openxmlformats.org/drawingml/2006/main">
              <a:ext uri="{FF2B5EF4-FFF2-40B4-BE49-F238E27FC236}">
                <a16:creationId xmlns:a16="http://schemas.microsoft.com/office/drawing/2014/main" id="{92251421-8ABD-41F0-8C7A-2527ADD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334125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4" name="Diagram element 37">
            <a:extLst xmlns:a="http://schemas.openxmlformats.org/drawingml/2006/main">
              <a:ext uri="{FF2B5EF4-FFF2-40B4-BE49-F238E27FC236}">
                <a16:creationId xmlns:a16="http://schemas.microsoft.com/office/drawing/2014/main" id="{FA5D2953-DD49-4371-9A6A-2DAC9DA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13" y="6376988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iagram element 38">
            <a:extLst xmlns:a="http://schemas.openxmlformats.org/drawingml/2006/main">
              <a:ext uri="{FF2B5EF4-FFF2-40B4-BE49-F238E27FC236}">
                <a16:creationId xmlns:a16="http://schemas.microsoft.com/office/drawing/2014/main" id="{E168AE7D-80A7-4623-A06E-D6BEDC1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66027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Mobile UD 4">
            <a:extLst xmlns:a="http://schemas.openxmlformats.org/drawingml/2006/main">
              <a:ext uri="{FF2B5EF4-FFF2-40B4-BE49-F238E27FC236}">
                <a16:creationId xmlns:a16="http://schemas.microsoft.com/office/drawing/2014/main" id="{A5E1ACEB-ED14-4D9B-8587-7CC9297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086600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78" name="Diagram element 40">
            <a:extLst xmlns:a="http://schemas.openxmlformats.org/drawingml/2006/main">
              <a:ext uri="{FF2B5EF4-FFF2-40B4-BE49-F238E27FC236}">
                <a16:creationId xmlns:a16="http://schemas.microsoft.com/office/drawing/2014/main" id="{D1E46369-1A1A-4A57-A965-A554EC00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7129463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iagram element 41">
            <a:extLst xmlns:a="http://schemas.openxmlformats.org/drawingml/2006/main">
              <a:ext uri="{FF2B5EF4-FFF2-40B4-BE49-F238E27FC236}">
                <a16:creationId xmlns:a16="http://schemas.microsoft.com/office/drawing/2014/main" id="{942E0D40-609C-4D14-A710-E80706F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3" y="735520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Mobile UD 5">
            <a:extLst xmlns:a="http://schemas.openxmlformats.org/drawingml/2006/main">
              <a:ext uri="{FF2B5EF4-FFF2-40B4-BE49-F238E27FC236}">
                <a16:creationId xmlns:a16="http://schemas.microsoft.com/office/drawing/2014/main" id="{4D58E266-7ABE-4933-85F9-90DB9BCD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7296150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2" name="Diagram element 43">
            <a:extLst xmlns:a="http://schemas.openxmlformats.org/drawingml/2006/main">
              <a:ext uri="{FF2B5EF4-FFF2-40B4-BE49-F238E27FC236}">
                <a16:creationId xmlns:a16="http://schemas.microsoft.com/office/drawing/2014/main" id="{13B09D1B-851E-4AA4-AF6E-748B6B5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313" y="7339013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iagram element 44">
            <a:extLst xmlns:a="http://schemas.openxmlformats.org/drawingml/2006/main">
              <a:ext uri="{FF2B5EF4-FFF2-40B4-BE49-F238E27FC236}">
                <a16:creationId xmlns:a16="http://schemas.microsoft.com/office/drawing/2014/main" id="{5D5213D8-CDBC-4EE7-B1FE-CFFDE395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38" y="75647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Mobile UD 6">
            <a:extLst xmlns:a="http://schemas.openxmlformats.org/drawingml/2006/main">
              <a:ext uri="{FF2B5EF4-FFF2-40B4-BE49-F238E27FC236}">
                <a16:creationId xmlns:a16="http://schemas.microsoft.com/office/drawing/2014/main" id="{4CBE8A03-5DEC-4D28-8BA6-AED9B1A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000750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6" name="Diagram element 46">
            <a:extLst xmlns:a="http://schemas.openxmlformats.org/drawingml/2006/main">
              <a:ext uri="{FF2B5EF4-FFF2-40B4-BE49-F238E27FC236}">
                <a16:creationId xmlns:a16="http://schemas.microsoft.com/office/drawing/2014/main" id="{C891CF63-5028-4BF3-A0AA-1A43DE3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0538" y="6043613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iagram element 47">
            <a:extLst xmlns:a="http://schemas.openxmlformats.org/drawingml/2006/main">
              <a:ext uri="{FF2B5EF4-FFF2-40B4-BE49-F238E27FC236}">
                <a16:creationId xmlns:a16="http://schemas.microsoft.com/office/drawing/2014/main" id="{1D499054-1229-466E-AA72-69599480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8163" y="626935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Mobile UD 7">
            <a:extLst xmlns:a="http://schemas.openxmlformats.org/drawingml/2006/main">
              <a:ext uri="{FF2B5EF4-FFF2-40B4-BE49-F238E27FC236}">
                <a16:creationId xmlns:a16="http://schemas.microsoft.com/office/drawing/2014/main" id="{9183C2CF-E4D7-4C1E-8E6D-94B5DA81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505825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0" name="Diagram element 49">
            <a:extLst xmlns:a="http://schemas.openxmlformats.org/drawingml/2006/main">
              <a:ext uri="{FF2B5EF4-FFF2-40B4-BE49-F238E27FC236}">
                <a16:creationId xmlns:a16="http://schemas.microsoft.com/office/drawing/2014/main" id="{DB6CBA11-8E5D-42B9-9E2D-8C19EBB2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488" y="8548688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iagram element 50">
            <a:extLst xmlns:a="http://schemas.openxmlformats.org/drawingml/2006/main">
              <a:ext uri="{FF2B5EF4-FFF2-40B4-BE49-F238E27FC236}">
                <a16:creationId xmlns:a16="http://schemas.microsoft.com/office/drawing/2014/main" id="{670020FF-7611-4562-B724-6703DB16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877443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Mobile UD 20">
            <a:extLst xmlns:a="http://schemas.openxmlformats.org/drawingml/2006/main">
              <a:ext uri="{FF2B5EF4-FFF2-40B4-BE49-F238E27FC236}">
                <a16:creationId xmlns:a16="http://schemas.microsoft.com/office/drawing/2014/main" id="{36CF7296-7438-4CCA-96F5-B9F0BD9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639175"/>
            <a:ext cx="190500" cy="3238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2495C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4" name="Diagram element 52">
            <a:extLst xmlns:a="http://schemas.openxmlformats.org/drawingml/2006/main">
              <a:ext uri="{FF2B5EF4-FFF2-40B4-BE49-F238E27FC236}">
                <a16:creationId xmlns:a16="http://schemas.microsoft.com/office/drawing/2014/main" id="{13585968-F4A3-448C-88A7-7F8436F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8682038"/>
            <a:ext cx="123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iagram element 53">
            <a:extLst xmlns:a="http://schemas.openxmlformats.org/drawingml/2006/main">
              <a:ext uri="{FF2B5EF4-FFF2-40B4-BE49-F238E27FC236}">
                <a16:creationId xmlns:a16="http://schemas.microsoft.com/office/drawing/2014/main" id="{E0CD8EAD-1178-4E27-989C-1692A63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890778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Local computation loop">
            <a:extLst xmlns:a="http://schemas.openxmlformats.org/drawingml/2006/main">
              <a:ext uri="{FF2B5EF4-FFF2-40B4-BE49-F238E27FC236}">
                <a16:creationId xmlns:a16="http://schemas.microsoft.com/office/drawing/2014/main" id="{76BAB3AB-2F6B-45B7-92CB-4A2EE615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334375"/>
            <a:ext cx="590550" cy="523875"/>
          </a:xfrm>
          <a:custGeom xmlns:a="http://schemas.openxmlformats.org/drawingml/2006/main"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AD6216"/>
            </a:solidFill>
            <a:prstDash val="solid"/>
          </a:ln>
        </p:spPr>
      </p:sp>
      <p:sp>
        <p:nvSpPr>
          <p:cNvPr id="98" name="Diagram element 55">
            <a:extLst xmlns:a="http://schemas.openxmlformats.org/drawingml/2006/main">
              <a:ext uri="{FF2B5EF4-FFF2-40B4-BE49-F238E27FC236}">
                <a16:creationId xmlns:a16="http://schemas.microsoft.com/office/drawing/2014/main" id="{0858A4CE-8BA6-40B2-9729-45631E5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5133975" y="85725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D6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Local computation loop">
            <a:extLst xmlns:a="http://schemas.openxmlformats.org/drawingml/2006/main">
              <a:ext uri="{FF2B5EF4-FFF2-40B4-BE49-F238E27FC236}">
                <a16:creationId xmlns:a16="http://schemas.microsoft.com/office/drawing/2014/main" id="{812FD117-D655-42ED-AA51-8836FFAA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448675"/>
            <a:ext cx="590550" cy="523875"/>
          </a:xfrm>
          <a:custGeom xmlns:a="http://schemas.openxmlformats.org/drawingml/2006/main">
            <a:pathLst>
              <a:path w="590550" h="523875">
                <a:moveTo>
                  <a:pt x="457200" y="85725"/>
                </a:moveTo>
                <a:cubicBezTo>
                  <a:pt x="171450" y="-76200"/>
                  <a:pt x="-19050" y="95250"/>
                  <a:pt x="47625" y="314325"/>
                </a:cubicBezTo>
                <a:cubicBezTo>
                  <a:pt x="133350" y="571500"/>
                  <a:pt x="485775" y="523875"/>
                  <a:pt x="514350" y="2857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AD6216"/>
            </a:solidFill>
            <a:prstDash val="solid"/>
          </a:ln>
        </p:spPr>
      </p:sp>
      <p:sp>
        <p:nvSpPr>
          <p:cNvPr id="100" name="Diagram element 56">
            <a:extLst xmlns:a="http://schemas.openxmlformats.org/drawingml/2006/main">
              <a:ext uri="{FF2B5EF4-FFF2-40B4-BE49-F238E27FC236}">
                <a16:creationId xmlns:a16="http://schemas.microsoft.com/office/drawing/2014/main" id="{6991F79B-7993-4A23-9840-814F431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382125" y="86868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D6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iagram element 58">
            <a:extLst xmlns:a="http://schemas.openxmlformats.org/drawingml/2006/main">
              <a:ext uri="{FF2B5EF4-FFF2-40B4-BE49-F238E27FC236}">
                <a16:creationId xmlns:a16="http://schemas.microsoft.com/office/drawing/2014/main" id="{44996121-1BE8-40DF-B087-49CC7FA3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8434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3" name="Diagram element 59">
            <a:extLst xmlns:a="http://schemas.openxmlformats.org/drawingml/2006/main">
              <a:ext uri="{FF2B5EF4-FFF2-40B4-BE49-F238E27FC236}">
                <a16:creationId xmlns:a16="http://schemas.microsoft.com/office/drawing/2014/main" id="{73ACF207-7554-40A4-8988-91C37ED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85391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81EE016-3406-471E-940D-6F9254E678B6}"/>
              </a:ext>
            </a:extLst>
          </p:cNvPr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4548188" y="8439151"/>
            <a:ext cx="19050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D6216"/>
            </a:solidFill>
            <a:prstDash val="solid"/>
          </a:ln>
        </p:spPr>
      </p:cxnSp>
      <p:sp>
        <p:nvSpPr>
          <p:cNvPr id="105" name="Diagram element 60">
            <a:extLst xmlns:a="http://schemas.openxmlformats.org/drawingml/2006/main">
              <a:ext uri="{FF2B5EF4-FFF2-40B4-BE49-F238E27FC236}">
                <a16:creationId xmlns:a16="http://schemas.microsoft.com/office/drawing/2014/main" id="{A409158F-BBA9-4F62-8879-FADF917A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338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6" name="Diagram element 61">
            <a:extLst xmlns:a="http://schemas.openxmlformats.org/drawingml/2006/main">
              <a:ext uri="{FF2B5EF4-FFF2-40B4-BE49-F238E27FC236}">
                <a16:creationId xmlns:a16="http://schemas.microsoft.com/office/drawing/2014/main" id="{C6EA3905-4C63-4E84-AD83-2ACE6DDF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3381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EE7A49-45B0-4DE6-ABE6-23268D678D06}"/>
              </a:ext>
            </a:extLst>
          </p:cNvPr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309563" y="342901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74B8"/>
            </a:solidFill>
            <a:prstDash val="dash"/>
            <a:tailEnd type="triangle" w="med" len="med"/>
          </a:ln>
        </p:spPr>
      </p:cxnSp>
      <p:sp>
        <p:nvSpPr>
          <p:cNvPr id="108" name="Diagram element 62">
            <a:extLst xmlns:a="http://schemas.openxmlformats.org/drawingml/2006/main">
              <a:ext uri="{FF2B5EF4-FFF2-40B4-BE49-F238E27FC236}">
                <a16:creationId xmlns:a16="http://schemas.microsoft.com/office/drawing/2014/main" id="{F5230C4A-E3D3-4708-AE42-87EC537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0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UD–UAV offloading</a:t>
            </a:r>
          </a:p>
        </p:txBody>
      </p:sp>
      <p:sp>
        <p:nvSpPr>
          <p:cNvPr id="109" name="Diagram element 63">
            <a:extLst xmlns:a="http://schemas.openxmlformats.org/drawingml/2006/main">
              <a:ext uri="{FF2B5EF4-FFF2-40B4-BE49-F238E27FC236}">
                <a16:creationId xmlns:a16="http://schemas.microsoft.com/office/drawing/2014/main" id="{890FF037-299F-484A-9B3A-E5D066BD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7381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0" name="Diagram element 64">
            <a:extLst xmlns:a="http://schemas.openxmlformats.org/drawingml/2006/main">
              <a:ext uri="{FF2B5EF4-FFF2-40B4-BE49-F238E27FC236}">
                <a16:creationId xmlns:a16="http://schemas.microsoft.com/office/drawing/2014/main" id="{B5F5241D-58DA-4E56-9463-E491C7F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7381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D479AB7-EBED-4CE1-B6E6-96881433ED24}"/>
              </a:ext>
            </a:extLst>
          </p:cNvPr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309563" y="742951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50A2"/>
            </a:solidFill>
            <a:prstDash val="dashDot"/>
            <a:tailEnd type="triangle" w="med" len="med"/>
          </a:ln>
        </p:spPr>
      </p:cxnSp>
      <p:sp>
        <p:nvSpPr>
          <p:cNvPr id="112" name="Diagram element 65">
            <a:extLst xmlns:a="http://schemas.openxmlformats.org/drawingml/2006/main">
              <a:ext uri="{FF2B5EF4-FFF2-40B4-BE49-F238E27FC236}">
                <a16:creationId xmlns:a16="http://schemas.microsoft.com/office/drawing/2014/main" id="{5881882B-0D32-46D5-9928-2D43079E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10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Direct UD–LEO offloading</a:t>
            </a:r>
          </a:p>
        </p:txBody>
      </p:sp>
      <p:sp>
        <p:nvSpPr>
          <p:cNvPr id="113" name="Diagram element 66">
            <a:extLst xmlns:a="http://schemas.openxmlformats.org/drawingml/2006/main">
              <a:ext uri="{FF2B5EF4-FFF2-40B4-BE49-F238E27FC236}">
                <a16:creationId xmlns:a16="http://schemas.microsoft.com/office/drawing/2014/main" id="{1626D839-D799-4EF7-BEFA-58AA77D4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138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4" name="Diagram element 67">
            <a:extLst xmlns:a="http://schemas.openxmlformats.org/drawingml/2006/main">
              <a:ext uri="{FF2B5EF4-FFF2-40B4-BE49-F238E27FC236}">
                <a16:creationId xmlns:a16="http://schemas.microsoft.com/office/drawing/2014/main" id="{5266F8D2-48DB-4AA7-8323-BE78CF5A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1138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A830DF-D43C-4592-8CE4-BDAB4AA3AFC5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309563" y="1143001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AD6216"/>
            </a:solidFill>
            <a:prstDash val="solid"/>
            <a:tailEnd type="triangle" w="med" len="med"/>
          </a:ln>
        </p:spPr>
      </p:cxnSp>
      <p:sp>
        <p:nvSpPr>
          <p:cNvPr id="116" name="Diagram element 68">
            <a:extLst xmlns:a="http://schemas.openxmlformats.org/drawingml/2006/main">
              <a:ext uri="{FF2B5EF4-FFF2-40B4-BE49-F238E27FC236}">
                <a16:creationId xmlns:a16="http://schemas.microsoft.com/office/drawing/2014/main" id="{5832995A-9AFD-4011-A39B-58AE378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81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17" name="Diagram element 69">
            <a:extLst xmlns:a="http://schemas.openxmlformats.org/drawingml/2006/main">
              <a:ext uri="{FF2B5EF4-FFF2-40B4-BE49-F238E27FC236}">
                <a16:creationId xmlns:a16="http://schemas.microsoft.com/office/drawing/2014/main" id="{646D1AF9-8624-47EF-B84B-F31FECCA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5382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8" name="Diagram element 70">
            <a:extLst xmlns:a="http://schemas.openxmlformats.org/drawingml/2006/main">
              <a:ext uri="{FF2B5EF4-FFF2-40B4-BE49-F238E27FC236}">
                <a16:creationId xmlns:a16="http://schemas.microsoft.com/office/drawing/2014/main" id="{382440C3-B882-4A3D-A72A-62D56129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15382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79BFEA-B6C9-482F-84E2-FC1D5C3BBEEC}"/>
              </a:ext>
            </a:extLst>
          </p:cNvPr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309563" y="1543051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6671"/>
            </a:solidFill>
            <a:prstDash val="solid"/>
            <a:tailEnd type="triangle" w="med" len="med"/>
          </a:ln>
        </p:spPr>
      </p:cxnSp>
      <p:sp>
        <p:nvSpPr>
          <p:cNvPr id="120" name="Diagram element 71">
            <a:extLst xmlns:a="http://schemas.openxmlformats.org/drawingml/2006/main">
              <a:ext uri="{FF2B5EF4-FFF2-40B4-BE49-F238E27FC236}">
                <a16:creationId xmlns:a16="http://schemas.microsoft.com/office/drawing/2014/main" id="{22E97A9B-43D8-437A-A735-7EE2DC3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381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UAV trajectory</a:t>
            </a:r>
          </a:p>
        </p:txBody>
      </p:sp>
      <p:sp>
        <p:nvSpPr>
          <p:cNvPr id="121" name="Diagram element 72">
            <a:extLst xmlns:a="http://schemas.openxmlformats.org/drawingml/2006/main">
              <a:ext uri="{FF2B5EF4-FFF2-40B4-BE49-F238E27FC236}">
                <a16:creationId xmlns:a16="http://schemas.microsoft.com/office/drawing/2014/main" id="{56BB5384-A0A5-4EF4-98BB-853C8FD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8" y="1938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2" name="Diagram element 73">
            <a:extLst xmlns:a="http://schemas.openxmlformats.org/drawingml/2006/main">
              <a:ext uri="{FF2B5EF4-FFF2-40B4-BE49-F238E27FC236}">
                <a16:creationId xmlns:a16="http://schemas.microsoft.com/office/drawing/2014/main" id="{81C48F91-891F-4F3F-BC20-66297F5E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8" y="1938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B8F9F84-09C6-4E6F-A70D-7617EC61F09F}"/>
              </a:ext>
            </a:extLst>
          </p:cNvPr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309563" y="1943101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949F"/>
            </a:solidFill>
            <a:prstDash val="dash"/>
          </a:ln>
        </p:spPr>
      </p:cxnSp>
      <p:sp>
        <p:nvSpPr>
          <p:cNvPr id="124" name="Diagram element 74">
            <a:extLst xmlns:a="http://schemas.openxmlformats.org/drawingml/2006/main">
              <a:ext uri="{FF2B5EF4-FFF2-40B4-BE49-F238E27FC236}">
                <a16:creationId xmlns:a16="http://schemas.microsoft.com/office/drawing/2014/main" id="{FB00FED9-A6E7-4BC9-9EED-03805042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811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State / control signaling</a:t>
            </a:r>
          </a:p>
        </p:txBody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40A80D-0054-4C94-BDB7-B7B589D53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7aa262f804c7b"/>
          <a:stretch xmlns:a="http://schemas.openxmlformats.org/drawingml/2006/main"/>
        </p:blipFill>
        <p:spPr>
          <a:xfrm xmlns:a="http://schemas.openxmlformats.org/drawingml/2006/main">
            <a:off x="390525" y="2200575"/>
            <a:ext cx="333375" cy="399451"/>
          </a:xfrm>
          <a:prstGeom xmlns:a="http://schemas.openxmlformats.org/drawingml/2006/main" prst="rect">
            <a:avLst/>
          </a:prstGeom>
        </p:spPr>
      </p:pic>
      <p:sp>
        <p:nvSpPr>
          <p:cNvPr id="126" name="Diagram element 75">
            <a:extLst xmlns:a="http://schemas.openxmlformats.org/drawingml/2006/main">
              <a:ext uri="{FF2B5EF4-FFF2-40B4-BE49-F238E27FC236}">
                <a16:creationId xmlns:a16="http://schemas.microsoft.com/office/drawing/2014/main" id="{B632158E-D557-4DA3-9E4E-0E72DDB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09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Edge server</a:t>
            </a:r>
          </a:p>
        </p:txBody>
      </p:sp>
      <p:sp>
        <p:nvSpPr>
          <p:cNvPr id="127" name="Diagram element 76">
            <a:extLst xmlns:a="http://schemas.openxmlformats.org/drawingml/2006/main">
              <a:ext uri="{FF2B5EF4-FFF2-40B4-BE49-F238E27FC236}">
                <a16:creationId xmlns:a16="http://schemas.microsoft.com/office/drawing/2014/main" id="{2B91961F-6ACC-4237-84BA-B21CA70A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Deadline-based task priority</a:t>
            </a:r>
          </a:p>
        </p:txBody>
      </p:sp>
      <p:sp>
        <p:nvSpPr>
          <p:cNvPr id="128" name="Diagram element 77">
            <a:extLst xmlns:a="http://schemas.openxmlformats.org/drawingml/2006/main">
              <a:ext uri="{FF2B5EF4-FFF2-40B4-BE49-F238E27FC236}">
                <a16:creationId xmlns:a16="http://schemas.microsoft.com/office/drawing/2014/main" id="{9ECBD934-50AB-48D8-9DE7-EE43946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477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Task {D, C, τ}</a:t>
            </a:r>
          </a:p>
        </p:txBody>
      </p:sp>
      <p:sp>
        <p:nvSpPr>
          <p:cNvPr id="129" name="Diagram element 78">
            <a:extLst xmlns:a="http://schemas.openxmlformats.org/drawingml/2006/main">
              <a:ext uri="{FF2B5EF4-FFF2-40B4-BE49-F238E27FC236}">
                <a16:creationId xmlns:a16="http://schemas.microsoft.com/office/drawing/2014/main" id="{0E3790FB-C2DD-46AD-BAEE-34118A6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0287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rPr>
              <a:t>Priority ω = 1/τ</a:t>
            </a:r>
          </a:p>
        </p:txBody>
      </p:sp>
      <p:sp>
        <p:nvSpPr>
          <p:cNvPr id="130" name="Diagram element 79">
            <a:extLst xmlns:a="http://schemas.openxmlformats.org/drawingml/2006/main">
              <a:ext uri="{FF2B5EF4-FFF2-40B4-BE49-F238E27FC236}">
                <a16:creationId xmlns:a16="http://schemas.microsoft.com/office/drawing/2014/main" id="{EA940762-83E2-4A8E-B7C8-2AC82A9E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28750"/>
            <a:ext cx="422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Shorter deadline, higher priority</a:t>
            </a:r>
          </a:p>
        </p:txBody>
      </p:sp>
      <p:sp>
        <p:nvSpPr>
          <p:cNvPr id="131" name="Logical centralized decision maker">
            <a:extLst xmlns:a="http://schemas.openxmlformats.org/drawingml/2006/main">
              <a:ext uri="{FF2B5EF4-FFF2-40B4-BE49-F238E27FC236}">
                <a16:creationId xmlns:a16="http://schemas.microsoft.com/office/drawing/2014/main" id="{1040E1E6-BEE2-4F05-AC5B-7FD7820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4381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9949F"/>
            </a:solidFill>
            <a:prstDash val="dash"/>
          </a:ln>
        </p:spPr>
      </p:sp>
      <p:sp>
        <p:nvSpPr>
          <p:cNvPr id="132" name="Diagram element 80">
            <a:extLst xmlns:a="http://schemas.openxmlformats.org/drawingml/2006/main">
              <a:ext uri="{FF2B5EF4-FFF2-40B4-BE49-F238E27FC236}">
                <a16:creationId xmlns:a16="http://schemas.microsoft.com/office/drawing/2014/main" id="{937C2426-2516-40EF-AAB5-B967FDE0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Logical centralized decision maker</a:t>
            </a:r>
          </a:p>
        </p:txBody>
      </p:sp>
      <p:sp>
        <p:nvSpPr>
          <p:cNvPr id="133" name="Diagram element 81">
            <a:extLst xmlns:a="http://schemas.openxmlformats.org/drawingml/2006/main">
              <a:ext uri="{FF2B5EF4-FFF2-40B4-BE49-F238E27FC236}">
                <a16:creationId xmlns:a16="http://schemas.microsoft.com/office/drawing/2014/main" id="{A608771B-BD0E-4416-95C6-2EA962F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413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Offloading and bandwidth / CPU allocation</a:t>
            </a:r>
          </a:p>
        </p:txBody>
      </p:sp>
      <p:sp>
        <p:nvSpPr>
          <p:cNvPr id="134" name="Diagram element 82">
            <a:extLst xmlns:a="http://schemas.openxmlformats.org/drawingml/2006/main">
              <a:ext uri="{FF2B5EF4-FFF2-40B4-BE49-F238E27FC236}">
                <a16:creationId xmlns:a16="http://schemas.microsoft.com/office/drawing/2014/main" id="{9CFDFF8D-49BD-44D6-A2CF-61EEF54C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38425"/>
            <a:ext cx="413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E6671"/>
                </a:solidFill>
                <a:latin typeface="Times New Roman"/>
                <a:ea typeface="Times New Roman"/>
                <a:cs typeface="Times New Roman"/>
              </a:rPr>
              <a:t>UAV trajectory control</a:t>
            </a:r>
          </a:p>
        </p:txBody>
      </p:sp>
      <p:sp>
        <p:nvSpPr>
          <p:cNvPr id="135" name="Diagram element 83">
            <a:extLst xmlns:a="http://schemas.openxmlformats.org/drawingml/2006/main">
              <a:ext uri="{FF2B5EF4-FFF2-40B4-BE49-F238E27FC236}">
                <a16:creationId xmlns:a16="http://schemas.microsoft.com/office/drawing/2014/main" id="{D980226F-F48F-4E5F-9DCF-F98E41A1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509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6" name="Diagram element 84">
            <a:extLst xmlns:a="http://schemas.openxmlformats.org/drawingml/2006/main">
              <a:ext uri="{FF2B5EF4-FFF2-40B4-BE49-F238E27FC236}">
                <a16:creationId xmlns:a16="http://schemas.microsoft.com/office/drawing/2014/main" id="{A6D8A50F-884B-444E-ACB7-9A9C5F36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888" y="34147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7" name="Ideal controller to aerial layer signaling">
            <a:extLst xmlns:a="http://schemas.openxmlformats.org/drawingml/2006/main">
              <a:ext uri="{FF2B5EF4-FFF2-40B4-BE49-F238E27FC236}">
                <a16:creationId xmlns:a16="http://schemas.microsoft.com/office/drawing/2014/main" id="{8B1DFFE3-F983-407F-8411-3C3C38F497C5}"/>
              </a:ext>
            </a:extLst>
          </p:cNvPr>
          <p:cNvCxnSpPr>
            <a:stCxn xmlns:a="http://schemas.openxmlformats.org/drawingml/2006/main" id="135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 flipH="1">
            <a:off x="4438651" y="2519363"/>
            <a:ext cx="381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949F"/>
            </a:solidFill>
            <a:prstDash val="dash"/>
          </a:ln>
        </p:spPr>
      </p:cxnSp>
      <p:sp>
        <p:nvSpPr>
          <p:cNvPr id="138" name="Diagram element 85">
            <a:extLst xmlns:a="http://schemas.openxmlformats.org/drawingml/2006/main">
              <a:ext uri="{FF2B5EF4-FFF2-40B4-BE49-F238E27FC236}">
                <a16:creationId xmlns:a16="http://schemas.microsoft.com/office/drawing/2014/main" id="{C14EC78F-8163-4FA2-8016-C84AE8D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2050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9" name="Diagram element 86">
            <a:extLst xmlns:a="http://schemas.openxmlformats.org/drawingml/2006/main">
              <a:ext uri="{FF2B5EF4-FFF2-40B4-BE49-F238E27FC236}">
                <a16:creationId xmlns:a16="http://schemas.microsoft.com/office/drawing/2014/main" id="{8ED5F5AB-8B4C-4683-8750-2BC4D413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16430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0" name="Ideal controller to satellite signaling">
            <a:extLst xmlns:a="http://schemas.openxmlformats.org/drawingml/2006/main">
              <a:ext uri="{FF2B5EF4-FFF2-40B4-BE49-F238E27FC236}">
                <a16:creationId xmlns:a16="http://schemas.microsoft.com/office/drawing/2014/main" id="{6E2E48B8-9E4C-4993-980C-DBB9D55DE09E}"/>
              </a:ext>
            </a:extLst>
          </p:cNvPr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 flipV="1">
            <a:off x="8863013" y="1647826"/>
            <a:ext cx="84772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949F"/>
            </a:solidFill>
            <a:prstDash val="dash"/>
          </a:ln>
        </p:spPr>
      </p:cxnSp>
      <p:sp>
        <p:nvSpPr>
          <p:cNvPr id="142" name="Diagram element 88">
            <a:extLst xmlns:a="http://schemas.openxmlformats.org/drawingml/2006/main">
              <a:ext uri="{FF2B5EF4-FFF2-40B4-BE49-F238E27FC236}">
                <a16:creationId xmlns:a16="http://schemas.microsoft.com/office/drawing/2014/main" id="{7F90C7F0-2B84-4E21-93E3-5CED7EC5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67925"/>
            <a:ext cx="1181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Each task executes at exactly one destination: local, one UAV, or the LEO satellite</a:t>
            </a:r>
          </a:p>
        </p:txBody>
      </p:sp>
      <p:sp>
        <p:nvSpPr>
          <p:cNvPr id="25" name="Diagram element 4">
            <a:extLst xmlns:a="http://schemas.openxmlformats.org/drawingml/2006/main">
              <a:ext uri="{FF2B5EF4-FFF2-40B4-BE49-F238E27FC236}">
                <a16:creationId xmlns:a16="http://schemas.microsoft.com/office/drawing/2014/main" id="{AD03601E-1AEA-4EBF-BCAB-85B9AED5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143375"/>
            <a:ext cx="2505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 MHz, 10 GHz</a:t>
            </a:r>
          </a:p>
        </p:txBody>
      </p:sp>
      <p:sp>
        <p:nvSpPr>
          <p:cNvPr id="26" name="Diagram element 5">
            <a:extLst xmlns:a="http://schemas.openxmlformats.org/drawingml/2006/main">
              <a:ext uri="{FF2B5EF4-FFF2-40B4-BE49-F238E27FC236}">
                <a16:creationId xmlns:a16="http://schemas.microsoft.com/office/drawing/2014/main" id="{CD072736-E1A3-40EA-B10C-7D093586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67225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 MHz, 10 GHz</a:t>
            </a:r>
          </a:p>
        </p:txBody>
      </p:sp>
      <p:sp>
        <p:nvSpPr>
          <p:cNvPr id="27" name="Diagram element 6">
            <a:extLst xmlns:a="http://schemas.openxmlformats.org/drawingml/2006/main">
              <a:ext uri="{FF2B5EF4-FFF2-40B4-BE49-F238E27FC236}">
                <a16:creationId xmlns:a16="http://schemas.microsoft.com/office/drawing/2014/main" id="{51A850F8-1E5A-4A92-A58D-8A00347F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05250"/>
            <a:ext cx="2600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10 MHz, 10 GHz</a:t>
            </a:r>
          </a:p>
        </p:txBody>
      </p:sp>
      <p:sp>
        <p:nvSpPr>
          <p:cNvPr id="63" name="Diagram element 29">
            <a:extLst xmlns:a="http://schemas.openxmlformats.org/drawingml/2006/main">
              <a:ext uri="{FF2B5EF4-FFF2-40B4-BE49-F238E27FC236}">
                <a16:creationId xmlns:a16="http://schemas.microsoft.com/office/drawing/2014/main" id="{AD1BB2D5-81EB-44F8-9C2B-CC98C793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15144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Direct UD–LEO</a:t>
            </a:r>
          </a:p>
        </p:txBody>
      </p:sp>
      <p:sp>
        <p:nvSpPr>
          <p:cNvPr id="64" name="Diagram element 30">
            <a:extLst xmlns:a="http://schemas.openxmlformats.org/drawingml/2006/main">
              <a:ext uri="{FF2B5EF4-FFF2-40B4-BE49-F238E27FC236}">
                <a16:creationId xmlns:a16="http://schemas.microsoft.com/office/drawing/2014/main" id="{D7F797C6-89A9-4F5F-8306-17A3B18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67050"/>
            <a:ext cx="12668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7850A2"/>
                </a:solidFill>
                <a:latin typeface="Times New Roman"/>
                <a:ea typeface="Times New Roman"/>
                <a:cs typeface="Times New Roman"/>
              </a:rPr>
              <a:t>offloading</a:t>
            </a:r>
          </a:p>
        </p:txBody>
      </p:sp>
      <p:sp>
        <p:nvSpPr>
          <p:cNvPr id="68" name="Diagram element 33">
            <a:extLst xmlns:a="http://schemas.openxmlformats.org/drawingml/2006/main">
              <a:ext uri="{FF2B5EF4-FFF2-40B4-BE49-F238E27FC236}">
                <a16:creationId xmlns:a16="http://schemas.microsoft.com/office/drawing/2014/main" id="{8E58F6E3-8744-4295-9FE0-0FADD6B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524625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1</a:t>
            </a:r>
          </a:p>
        </p:txBody>
      </p:sp>
      <p:sp>
        <p:nvSpPr>
          <p:cNvPr id="72" name="Diagram element 36">
            <a:extLst xmlns:a="http://schemas.openxmlformats.org/drawingml/2006/main">
              <a:ext uri="{FF2B5EF4-FFF2-40B4-BE49-F238E27FC236}">
                <a16:creationId xmlns:a16="http://schemas.microsoft.com/office/drawing/2014/main" id="{86483FD3-2C9F-42AE-A35A-3E0EDCB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6771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</a:t>
            </a:r>
          </a:p>
        </p:txBody>
      </p:sp>
      <p:sp>
        <p:nvSpPr>
          <p:cNvPr id="76" name="Diagram element 39">
            <a:extLst xmlns:a="http://schemas.openxmlformats.org/drawingml/2006/main">
              <a:ext uri="{FF2B5EF4-FFF2-40B4-BE49-F238E27FC236}">
                <a16:creationId xmlns:a16="http://schemas.microsoft.com/office/drawing/2014/main" id="{C96182D5-7267-48DF-8563-E1828D6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696075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3</a:t>
            </a:r>
          </a:p>
        </p:txBody>
      </p:sp>
      <p:sp>
        <p:nvSpPr>
          <p:cNvPr id="80" name="Diagram element 42">
            <a:extLst xmlns:a="http://schemas.openxmlformats.org/drawingml/2006/main">
              <a:ext uri="{FF2B5EF4-FFF2-40B4-BE49-F238E27FC236}">
                <a16:creationId xmlns:a16="http://schemas.microsoft.com/office/drawing/2014/main" id="{3F708199-63D2-4F66-839E-12D30A89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744855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4</a:t>
            </a:r>
          </a:p>
        </p:txBody>
      </p:sp>
      <p:sp>
        <p:nvSpPr>
          <p:cNvPr id="84" name="Diagram element 45">
            <a:extLst xmlns:a="http://schemas.openxmlformats.org/drawingml/2006/main">
              <a:ext uri="{FF2B5EF4-FFF2-40B4-BE49-F238E27FC236}">
                <a16:creationId xmlns:a16="http://schemas.microsoft.com/office/drawing/2014/main" id="{1464FB57-63CD-4DB8-8839-415FABEC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6581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5</a:t>
            </a:r>
          </a:p>
        </p:txBody>
      </p:sp>
      <p:sp>
        <p:nvSpPr>
          <p:cNvPr id="88" name="Diagram element 48">
            <a:extLst xmlns:a="http://schemas.openxmlformats.org/drawingml/2006/main">
              <a:ext uri="{FF2B5EF4-FFF2-40B4-BE49-F238E27FC236}">
                <a16:creationId xmlns:a16="http://schemas.microsoft.com/office/drawing/2014/main" id="{D1BC71FB-68E6-4CDB-9618-4831733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362700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6</a:t>
            </a:r>
          </a:p>
        </p:txBody>
      </p:sp>
      <p:sp>
        <p:nvSpPr>
          <p:cNvPr id="92" name="Diagram element 51">
            <a:extLst xmlns:a="http://schemas.openxmlformats.org/drawingml/2006/main">
              <a:ext uri="{FF2B5EF4-FFF2-40B4-BE49-F238E27FC236}">
                <a16:creationId xmlns:a16="http://schemas.microsoft.com/office/drawing/2014/main" id="{0F47FD18-F06A-4A41-8FA6-D66567D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8867775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7</a:t>
            </a:r>
          </a:p>
        </p:txBody>
      </p:sp>
      <p:sp>
        <p:nvSpPr>
          <p:cNvPr id="96" name="Diagram element 54">
            <a:extLst xmlns:a="http://schemas.openxmlformats.org/drawingml/2006/main">
              <a:ext uri="{FF2B5EF4-FFF2-40B4-BE49-F238E27FC236}">
                <a16:creationId xmlns:a16="http://schemas.microsoft.com/office/drawing/2014/main" id="{39D3E5FA-BBFA-4CF9-B371-81A1689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9001125"/>
            <a:ext cx="704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UD 20</a:t>
            </a:r>
          </a:p>
        </p:txBody>
      </p:sp>
      <p:sp>
        <p:nvSpPr>
          <p:cNvPr id="101" name="Diagram element 57">
            <a:extLst xmlns:a="http://schemas.openxmlformats.org/drawingml/2006/main">
              <a:ext uri="{FF2B5EF4-FFF2-40B4-BE49-F238E27FC236}">
                <a16:creationId xmlns:a16="http://schemas.microsoft.com/office/drawing/2014/main" id="{C542C3CE-19BE-4B2D-95D5-040BC04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8315325"/>
            <a:ext cx="1876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AD6216"/>
                </a:solidFill>
                <a:latin typeface="Times New Roman"/>
                <a:ea typeface="Times New Roman"/>
                <a:cs typeface="Times New Roman"/>
              </a:rPr>
              <a:t>Local computing</a:t>
            </a:r>
          </a:p>
        </p:txBody>
      </p:sp>
      <p:sp>
        <p:nvSpPr>
          <p:cNvPr id="141" name="Diagram element 87">
            <a:extLst xmlns:a="http://schemas.openxmlformats.org/drawingml/2006/main">
              <a:ext uri="{FF2B5EF4-FFF2-40B4-BE49-F238E27FC236}">
                <a16:creationId xmlns:a16="http://schemas.microsoft.com/office/drawing/2014/main" id="{0FFFA215-C11B-4C89-91C7-4E3ABE9E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705975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6212C"/>
                </a:solidFill>
                <a:latin typeface="Times New Roman"/>
                <a:ea typeface="Times New Roman"/>
                <a:cs typeface="Times New Roman"/>
              </a:rPr>
              <a:t>Post-disaster rescue area: 20 mobile UDs with local computing</a:t>
            </a:r>
          </a:p>
        </p:txBody>
      </p:sp>
    </p:spTree>
    <p:extLst>
      <p:ext uri="{BB962C8B-B14F-4D97-AF65-F5344CB8AC3E}">
        <p14:creationId xmlns:p14="http://schemas.microsoft.com/office/powerpoint/2010/main" val="609882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2026-10-18T06:26:36.8110000Z</dcterms:created>
  <dcterms:modified xsi:type="dcterms:W3CDTF">2026-10-18T06:26:36.8110000Z</dcterms:modified>
</coreProperties>
</file>